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DM Sans Bold" charset="1" panose="00000000000000000000"/>
      <p:regular r:id="rId13"/>
    </p:embeddedFont>
    <p:embeddedFont>
      <p:font typeface="Cy Grotesk Wide Semi-Bold" charset="1" panose="00000705000000000000"/>
      <p:regular r:id="rId14"/>
    </p:embeddedFont>
    <p:embeddedFont>
      <p:font typeface="DM Sans" charset="1" panose="00000000000000000000"/>
      <p:regular r:id="rId15"/>
    </p:embeddedFont>
    <p:embeddedFont>
      <p:font typeface="Canva Sans Bold" charset="1" panose="020B08030305010401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8.png" Type="http://schemas.openxmlformats.org/officeDocument/2006/relationships/image"/><Relationship Id="rId7" Target="../media/image6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745994"/>
            <a:ext cx="1083796" cy="433518"/>
          </a:xfrm>
          <a:custGeom>
            <a:avLst/>
            <a:gdLst/>
            <a:ahLst/>
            <a:cxnLst/>
            <a:rect r="r" b="b" t="t" l="l"/>
            <a:pathLst>
              <a:path h="433518" w="1083796">
                <a:moveTo>
                  <a:pt x="0" y="0"/>
                </a:moveTo>
                <a:lnTo>
                  <a:pt x="1083796" y="0"/>
                </a:lnTo>
                <a:lnTo>
                  <a:pt x="1083796" y="433518"/>
                </a:lnTo>
                <a:lnTo>
                  <a:pt x="0" y="4335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061428" y="5526180"/>
            <a:ext cx="9611110" cy="5406249"/>
          </a:xfrm>
          <a:custGeom>
            <a:avLst/>
            <a:gdLst/>
            <a:ahLst/>
            <a:cxnLst/>
            <a:rect r="r" b="b" t="t" l="l"/>
            <a:pathLst>
              <a:path h="5406249" w="9611110">
                <a:moveTo>
                  <a:pt x="0" y="0"/>
                </a:moveTo>
                <a:lnTo>
                  <a:pt x="9611110" y="0"/>
                </a:lnTo>
                <a:lnTo>
                  <a:pt x="9611110" y="5406249"/>
                </a:lnTo>
                <a:lnTo>
                  <a:pt x="0" y="54062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4473314" y="6175375"/>
            <a:ext cx="9611110" cy="5406249"/>
          </a:xfrm>
          <a:custGeom>
            <a:avLst/>
            <a:gdLst/>
            <a:ahLst/>
            <a:cxnLst/>
            <a:rect r="r" b="b" t="t" l="l"/>
            <a:pathLst>
              <a:path h="5406249" w="9611110">
                <a:moveTo>
                  <a:pt x="9611111" y="0"/>
                </a:moveTo>
                <a:lnTo>
                  <a:pt x="0" y="0"/>
                </a:lnTo>
                <a:lnTo>
                  <a:pt x="0" y="5406249"/>
                </a:lnTo>
                <a:lnTo>
                  <a:pt x="9611111" y="5406249"/>
                </a:lnTo>
                <a:lnTo>
                  <a:pt x="9611111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37797" y="1716423"/>
            <a:ext cx="7601428" cy="538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9"/>
              </a:lnSpc>
            </a:pPr>
            <a:r>
              <a:rPr lang="en-US" sz="396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Hunting for Exoplanets with ML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1185208">
            <a:off x="15113190" y="2512188"/>
            <a:ext cx="1318931" cy="1342680"/>
          </a:xfrm>
          <a:custGeom>
            <a:avLst/>
            <a:gdLst/>
            <a:ahLst/>
            <a:cxnLst/>
            <a:rect r="r" b="b" t="t" l="l"/>
            <a:pathLst>
              <a:path h="1342680" w="1318931">
                <a:moveTo>
                  <a:pt x="0" y="0"/>
                </a:moveTo>
                <a:lnTo>
                  <a:pt x="1318931" y="0"/>
                </a:lnTo>
                <a:lnTo>
                  <a:pt x="1318931" y="1342680"/>
                </a:lnTo>
                <a:lnTo>
                  <a:pt x="0" y="13426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821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185208">
            <a:off x="2494264" y="6002590"/>
            <a:ext cx="877981" cy="893790"/>
          </a:xfrm>
          <a:custGeom>
            <a:avLst/>
            <a:gdLst/>
            <a:ahLst/>
            <a:cxnLst/>
            <a:rect r="r" b="b" t="t" l="l"/>
            <a:pathLst>
              <a:path h="893790" w="877981">
                <a:moveTo>
                  <a:pt x="0" y="0"/>
                </a:moveTo>
                <a:lnTo>
                  <a:pt x="877981" y="0"/>
                </a:lnTo>
                <a:lnTo>
                  <a:pt x="877981" y="893790"/>
                </a:lnTo>
                <a:lnTo>
                  <a:pt x="0" y="8937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821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539005" y="4525576"/>
            <a:ext cx="1351556" cy="1354944"/>
          </a:xfrm>
          <a:custGeom>
            <a:avLst/>
            <a:gdLst/>
            <a:ahLst/>
            <a:cxnLst/>
            <a:rect r="r" b="b" t="t" l="l"/>
            <a:pathLst>
              <a:path h="1354944" w="1351556">
                <a:moveTo>
                  <a:pt x="0" y="0"/>
                </a:moveTo>
                <a:lnTo>
                  <a:pt x="1351557" y="0"/>
                </a:lnTo>
                <a:lnTo>
                  <a:pt x="1351557" y="1354943"/>
                </a:lnTo>
                <a:lnTo>
                  <a:pt x="0" y="13549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88597" y="7473377"/>
            <a:ext cx="1780461" cy="1784923"/>
          </a:xfrm>
          <a:custGeom>
            <a:avLst/>
            <a:gdLst/>
            <a:ahLst/>
            <a:cxnLst/>
            <a:rect r="r" b="b" t="t" l="l"/>
            <a:pathLst>
              <a:path h="1784923" w="1780461">
                <a:moveTo>
                  <a:pt x="0" y="0"/>
                </a:moveTo>
                <a:lnTo>
                  <a:pt x="1780460" y="0"/>
                </a:lnTo>
                <a:lnTo>
                  <a:pt x="1780460" y="1784923"/>
                </a:lnTo>
                <a:lnTo>
                  <a:pt x="0" y="17849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28834" y="61912"/>
            <a:ext cx="11864965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b="true" sz="8499" spc="756">
                <a:solidFill>
                  <a:srgbClr val="FFFFFF"/>
                </a:solidFill>
                <a:latin typeface="Cy Grotesk Wide Semi-Bold"/>
                <a:ea typeface="Cy Grotesk Wide Semi-Bold"/>
                <a:cs typeface="Cy Grotesk Wide Semi-Bold"/>
                <a:sym typeface="Cy Grotesk Wide Semi-Bold"/>
              </a:rPr>
              <a:t>EXOVISION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176200" y="8738867"/>
            <a:ext cx="3935599" cy="682647"/>
            <a:chOff x="0" y="0"/>
            <a:chExt cx="1036536" cy="1797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6536" cy="179792"/>
            </a:xfrm>
            <a:custGeom>
              <a:avLst/>
              <a:gdLst/>
              <a:ahLst/>
              <a:cxnLst/>
              <a:rect r="r" b="b" t="t" l="l"/>
              <a:pathLst>
                <a:path h="179792" w="1036536">
                  <a:moveTo>
                    <a:pt x="89896" y="0"/>
                  </a:moveTo>
                  <a:lnTo>
                    <a:pt x="946640" y="0"/>
                  </a:lnTo>
                  <a:cubicBezTo>
                    <a:pt x="996289" y="0"/>
                    <a:pt x="1036536" y="40248"/>
                    <a:pt x="1036536" y="89896"/>
                  </a:cubicBezTo>
                  <a:lnTo>
                    <a:pt x="1036536" y="89896"/>
                  </a:lnTo>
                  <a:cubicBezTo>
                    <a:pt x="1036536" y="139544"/>
                    <a:pt x="996289" y="179792"/>
                    <a:pt x="946640" y="179792"/>
                  </a:cubicBezTo>
                  <a:lnTo>
                    <a:pt x="89896" y="179792"/>
                  </a:lnTo>
                  <a:cubicBezTo>
                    <a:pt x="40248" y="179792"/>
                    <a:pt x="0" y="139544"/>
                    <a:pt x="0" y="89896"/>
                  </a:cubicBezTo>
                  <a:lnTo>
                    <a:pt x="0" y="89896"/>
                  </a:lnTo>
                  <a:cubicBezTo>
                    <a:pt x="0" y="40248"/>
                    <a:pt x="40248" y="0"/>
                    <a:pt x="8989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1036536" cy="170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248717" y="8876030"/>
            <a:ext cx="379056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NASA Hackathon Space Apps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91689" y="4357301"/>
            <a:ext cx="3126144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Dhruv Waghela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89040" y="4951265"/>
            <a:ext cx="2980746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Pawan Badsewal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89040" y="5544990"/>
            <a:ext cx="2980746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Anujin Aruinbol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89040" y="6138715"/>
            <a:ext cx="2980746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Manisha Mani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176200" y="6741965"/>
            <a:ext cx="4157122" cy="323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1"/>
              </a:lnSpc>
            </a:pPr>
            <a:r>
              <a:rPr lang="en-US" sz="2346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Deepak Nallamothu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64388" y="7303203"/>
            <a:ext cx="2980746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Johnpaul Ajuzie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008814" y="2959593"/>
            <a:ext cx="6105227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EPOCH DEV - ComV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745994"/>
            <a:ext cx="1083796" cy="433518"/>
          </a:xfrm>
          <a:custGeom>
            <a:avLst/>
            <a:gdLst/>
            <a:ahLst/>
            <a:cxnLst/>
            <a:rect r="r" b="b" t="t" l="l"/>
            <a:pathLst>
              <a:path h="433518" w="1083796">
                <a:moveTo>
                  <a:pt x="0" y="0"/>
                </a:moveTo>
                <a:lnTo>
                  <a:pt x="1083796" y="0"/>
                </a:lnTo>
                <a:lnTo>
                  <a:pt x="1083796" y="433518"/>
                </a:lnTo>
                <a:lnTo>
                  <a:pt x="0" y="4335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9674" y="8366891"/>
            <a:ext cx="1322822" cy="1326137"/>
          </a:xfrm>
          <a:custGeom>
            <a:avLst/>
            <a:gdLst/>
            <a:ahLst/>
            <a:cxnLst/>
            <a:rect r="r" b="b" t="t" l="l"/>
            <a:pathLst>
              <a:path h="1326137" w="1322822">
                <a:moveTo>
                  <a:pt x="0" y="0"/>
                </a:moveTo>
                <a:lnTo>
                  <a:pt x="1322822" y="0"/>
                </a:lnTo>
                <a:lnTo>
                  <a:pt x="1322822" y="1326137"/>
                </a:lnTo>
                <a:lnTo>
                  <a:pt x="0" y="13261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4560605"/>
            <a:ext cx="1647029" cy="1651157"/>
          </a:xfrm>
          <a:custGeom>
            <a:avLst/>
            <a:gdLst/>
            <a:ahLst/>
            <a:cxnLst/>
            <a:rect r="r" b="b" t="t" l="l"/>
            <a:pathLst>
              <a:path h="1651157" w="1647029">
                <a:moveTo>
                  <a:pt x="0" y="0"/>
                </a:moveTo>
                <a:lnTo>
                  <a:pt x="1647029" y="0"/>
                </a:lnTo>
                <a:lnTo>
                  <a:pt x="1647029" y="1651158"/>
                </a:lnTo>
                <a:lnTo>
                  <a:pt x="0" y="16511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19424" y="1506027"/>
            <a:ext cx="758945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0"/>
              </a:lnSpc>
            </a:pPr>
            <a:r>
              <a:rPr lang="en-US" sz="7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Motivation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86597" y="3144555"/>
            <a:ext cx="14962346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Fascination with the possibility of discovering new worlds.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Opportunity to apply AI/ML to a high-impact real-world scientific problem.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Chance to make a tool that can assist astronomers and researchers worldwide.</a:t>
            </a:r>
          </a:p>
          <a:p>
            <a:pPr algn="ctr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Fits into the broader vision of exploring habitable planets and advancing space science.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07437" y="7387596"/>
            <a:ext cx="10424790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ML That Detects Exoplanets in Seconds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ExoVision transforms raw NASA light curve features into instant exoplanet predictions — powered by machine learning and an intuitive web interface.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745994"/>
            <a:ext cx="1083796" cy="433518"/>
          </a:xfrm>
          <a:custGeom>
            <a:avLst/>
            <a:gdLst/>
            <a:ahLst/>
            <a:cxnLst/>
            <a:rect r="r" b="b" t="t" l="l"/>
            <a:pathLst>
              <a:path h="433518" w="1083796">
                <a:moveTo>
                  <a:pt x="0" y="0"/>
                </a:moveTo>
                <a:lnTo>
                  <a:pt x="1083796" y="0"/>
                </a:lnTo>
                <a:lnTo>
                  <a:pt x="1083796" y="433518"/>
                </a:lnTo>
                <a:lnTo>
                  <a:pt x="0" y="4335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348082" y="8495817"/>
            <a:ext cx="5485879" cy="3085807"/>
          </a:xfrm>
          <a:custGeom>
            <a:avLst/>
            <a:gdLst/>
            <a:ahLst/>
            <a:cxnLst/>
            <a:rect r="r" b="b" t="t" l="l"/>
            <a:pathLst>
              <a:path h="3085807" w="5485879">
                <a:moveTo>
                  <a:pt x="5485879" y="0"/>
                </a:moveTo>
                <a:lnTo>
                  <a:pt x="0" y="0"/>
                </a:lnTo>
                <a:lnTo>
                  <a:pt x="0" y="3085807"/>
                </a:lnTo>
                <a:lnTo>
                  <a:pt x="5485879" y="3085807"/>
                </a:lnTo>
                <a:lnTo>
                  <a:pt x="5485879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13628" y="2646874"/>
            <a:ext cx="1435232" cy="1433438"/>
          </a:xfrm>
          <a:custGeom>
            <a:avLst/>
            <a:gdLst/>
            <a:ahLst/>
            <a:cxnLst/>
            <a:rect r="r" b="b" t="t" l="l"/>
            <a:pathLst>
              <a:path h="1433438" w="1435232">
                <a:moveTo>
                  <a:pt x="0" y="0"/>
                </a:moveTo>
                <a:lnTo>
                  <a:pt x="1435232" y="0"/>
                </a:lnTo>
                <a:lnTo>
                  <a:pt x="1435232" y="1433438"/>
                </a:lnTo>
                <a:lnTo>
                  <a:pt x="0" y="14334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613628" y="4785162"/>
            <a:ext cx="1435232" cy="1438829"/>
          </a:xfrm>
          <a:custGeom>
            <a:avLst/>
            <a:gdLst/>
            <a:ahLst/>
            <a:cxnLst/>
            <a:rect r="r" b="b" t="t" l="l"/>
            <a:pathLst>
              <a:path h="1438829" w="1435232">
                <a:moveTo>
                  <a:pt x="0" y="0"/>
                </a:moveTo>
                <a:lnTo>
                  <a:pt x="1435232" y="0"/>
                </a:lnTo>
                <a:lnTo>
                  <a:pt x="1435232" y="1438830"/>
                </a:lnTo>
                <a:lnTo>
                  <a:pt x="0" y="1438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613628" y="511012"/>
            <a:ext cx="1435232" cy="1433438"/>
          </a:xfrm>
          <a:custGeom>
            <a:avLst/>
            <a:gdLst/>
            <a:ahLst/>
            <a:cxnLst/>
            <a:rect r="r" b="b" t="t" l="l"/>
            <a:pathLst>
              <a:path h="1433438" w="1435232">
                <a:moveTo>
                  <a:pt x="0" y="0"/>
                </a:moveTo>
                <a:lnTo>
                  <a:pt x="1435232" y="0"/>
                </a:lnTo>
                <a:lnTo>
                  <a:pt x="1435232" y="1433438"/>
                </a:lnTo>
                <a:lnTo>
                  <a:pt x="0" y="14334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20213" y="5851422"/>
            <a:ext cx="6076567" cy="3406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6"/>
              </a:lnSpc>
            </a:pPr>
          </a:p>
          <a:p>
            <a:pPr algn="l">
              <a:lnSpc>
                <a:spcPts val="8966"/>
              </a:lnSpc>
            </a:pPr>
            <a:r>
              <a:rPr lang="en-US" sz="7472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The Solut</a:t>
            </a:r>
            <a:r>
              <a:rPr lang="en-US" sz="7472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ion: ExoVision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41968" y="645875"/>
            <a:ext cx="417671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XGBoost Model – trained on NASA’s Kepler dataset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441968" y="2976007"/>
            <a:ext cx="5846032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FastAPI Backend : Real-time inference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441968" y="5306139"/>
            <a:ext cx="393775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React – interactive UI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0213" y="3163292"/>
            <a:ext cx="9172776" cy="314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Why Finding Exoplanets Is So Hard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NASA’s Kepler &amp; TESS missions have collected millions of light curves.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Each dip in brightness could be a planet transit — or noise.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Manual analysis is slow and error-prone.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831303" y="453862"/>
            <a:ext cx="6601080" cy="22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Why hunt for exoplanets:</a:t>
            </a:r>
          </a:p>
          <a:p>
            <a:pPr algn="r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Identifying habitable-zone planets 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Understanding planetary formation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Guiding future exploration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61428" y="5526180"/>
            <a:ext cx="9611110" cy="5406249"/>
          </a:xfrm>
          <a:custGeom>
            <a:avLst/>
            <a:gdLst/>
            <a:ahLst/>
            <a:cxnLst/>
            <a:rect r="r" b="b" t="t" l="l"/>
            <a:pathLst>
              <a:path h="5406249" w="9611110">
                <a:moveTo>
                  <a:pt x="0" y="0"/>
                </a:moveTo>
                <a:lnTo>
                  <a:pt x="9611110" y="0"/>
                </a:lnTo>
                <a:lnTo>
                  <a:pt x="9611110" y="5406249"/>
                </a:lnTo>
                <a:lnTo>
                  <a:pt x="0" y="54062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3150" y="3080691"/>
            <a:ext cx="1083796" cy="433518"/>
          </a:xfrm>
          <a:custGeom>
            <a:avLst/>
            <a:gdLst/>
            <a:ahLst/>
            <a:cxnLst/>
            <a:rect r="r" b="b" t="t" l="l"/>
            <a:pathLst>
              <a:path h="433518" w="1083796">
                <a:moveTo>
                  <a:pt x="0" y="0"/>
                </a:moveTo>
                <a:lnTo>
                  <a:pt x="1083796" y="0"/>
                </a:lnTo>
                <a:lnTo>
                  <a:pt x="1083796" y="433518"/>
                </a:lnTo>
                <a:lnTo>
                  <a:pt x="0" y="4335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94754" y="8949200"/>
            <a:ext cx="1599803" cy="1611523"/>
          </a:xfrm>
          <a:custGeom>
            <a:avLst/>
            <a:gdLst/>
            <a:ahLst/>
            <a:cxnLst/>
            <a:rect r="r" b="b" t="t" l="l"/>
            <a:pathLst>
              <a:path h="1611523" w="1599803">
                <a:moveTo>
                  <a:pt x="0" y="0"/>
                </a:moveTo>
                <a:lnTo>
                  <a:pt x="1599802" y="0"/>
                </a:lnTo>
                <a:lnTo>
                  <a:pt x="1599802" y="1611522"/>
                </a:lnTo>
                <a:lnTo>
                  <a:pt x="0" y="16115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881646" y="-672287"/>
            <a:ext cx="1341212" cy="1344573"/>
          </a:xfrm>
          <a:custGeom>
            <a:avLst/>
            <a:gdLst/>
            <a:ahLst/>
            <a:cxnLst/>
            <a:rect r="r" b="b" t="t" l="l"/>
            <a:pathLst>
              <a:path h="1344573" w="1341212">
                <a:moveTo>
                  <a:pt x="0" y="0"/>
                </a:moveTo>
                <a:lnTo>
                  <a:pt x="1341211" y="0"/>
                </a:lnTo>
                <a:lnTo>
                  <a:pt x="1341211" y="1344574"/>
                </a:lnTo>
                <a:lnTo>
                  <a:pt x="0" y="13445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80287" y="1179512"/>
            <a:ext cx="6233906" cy="8359139"/>
          </a:xfrm>
          <a:custGeom>
            <a:avLst/>
            <a:gdLst/>
            <a:ahLst/>
            <a:cxnLst/>
            <a:rect r="r" b="b" t="t" l="l"/>
            <a:pathLst>
              <a:path h="8359139" w="6233906">
                <a:moveTo>
                  <a:pt x="0" y="0"/>
                </a:moveTo>
                <a:lnTo>
                  <a:pt x="6233906" y="0"/>
                </a:lnTo>
                <a:lnTo>
                  <a:pt x="6233906" y="8359139"/>
                </a:lnTo>
                <a:lnTo>
                  <a:pt x="0" y="83591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3" t="0" r="-41011" b="-3333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284799" y="4114284"/>
            <a:ext cx="7266914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input from the web UI is sent to a Python script, which processes the data using a machine learning model to classify whether the eco-plant is determined or not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7855786" y="3485448"/>
            <a:ext cx="1199251" cy="427093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arrow" len="sm" w="med"/>
            <a:tailEnd type="arrow" len="sm" w="med"/>
          </a:ln>
        </p:spPr>
      </p:sp>
      <p:sp>
        <p:nvSpPr>
          <p:cNvPr name="TextBox 10" id="10"/>
          <p:cNvSpPr txBox="true"/>
          <p:nvPr/>
        </p:nvSpPr>
        <p:spPr>
          <a:xfrm rot="0">
            <a:off x="9149125" y="3091934"/>
            <a:ext cx="223648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Custom Input</a:t>
            </a:r>
          </a:p>
        </p:txBody>
      </p:sp>
      <p:sp>
        <p:nvSpPr>
          <p:cNvPr name="AutoShape 11" id="11"/>
          <p:cNvSpPr/>
          <p:nvPr/>
        </p:nvSpPr>
        <p:spPr>
          <a:xfrm>
            <a:off x="3343345" y="2006906"/>
            <a:ext cx="1289140" cy="299617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arrow" len="sm" w="med"/>
            <a:tailEnd type="arrow" len="sm" w="med"/>
          </a:ln>
        </p:spPr>
      </p:sp>
      <p:sp>
        <p:nvSpPr>
          <p:cNvPr name="TextBox 12" id="12"/>
          <p:cNvSpPr txBox="true"/>
          <p:nvPr/>
        </p:nvSpPr>
        <p:spPr>
          <a:xfrm rot="0">
            <a:off x="563150" y="1584631"/>
            <a:ext cx="287772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One-off 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84799" y="1397306"/>
            <a:ext cx="259684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Batch analysis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6507083" y="1650603"/>
            <a:ext cx="2873009" cy="802538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arrow" len="sm" w="med"/>
            <a:tailEnd type="arrow" len="sm" w="med"/>
          </a:ln>
        </p:spPr>
      </p:sp>
      <p:sp>
        <p:nvSpPr>
          <p:cNvPr name="AutoShape 15" id="15"/>
          <p:cNvSpPr/>
          <p:nvPr/>
        </p:nvSpPr>
        <p:spPr>
          <a:xfrm flipV="true">
            <a:off x="1754351" y="7016380"/>
            <a:ext cx="2873009" cy="802538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arrow" len="sm" w="med"/>
            <a:tailEnd type="arrow" len="sm" w="med"/>
          </a:ln>
        </p:spPr>
      </p:sp>
      <p:sp>
        <p:nvSpPr>
          <p:cNvPr name="TextBox 16" id="16"/>
          <p:cNvSpPr txBox="true"/>
          <p:nvPr/>
        </p:nvSpPr>
        <p:spPr>
          <a:xfrm rot="0">
            <a:off x="272174" y="7865841"/>
            <a:ext cx="259684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Analysis Result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63150" y="242129"/>
            <a:ext cx="10020072" cy="112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6"/>
              </a:lnSpc>
            </a:pPr>
            <a:r>
              <a:rPr lang="en-US" sz="747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Project Walkthrough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61428" y="5526180"/>
            <a:ext cx="9611110" cy="5406249"/>
          </a:xfrm>
          <a:custGeom>
            <a:avLst/>
            <a:gdLst/>
            <a:ahLst/>
            <a:cxnLst/>
            <a:rect r="r" b="b" t="t" l="l"/>
            <a:pathLst>
              <a:path h="5406249" w="9611110">
                <a:moveTo>
                  <a:pt x="0" y="0"/>
                </a:moveTo>
                <a:lnTo>
                  <a:pt x="9611110" y="0"/>
                </a:lnTo>
                <a:lnTo>
                  <a:pt x="9611110" y="5406249"/>
                </a:lnTo>
                <a:lnTo>
                  <a:pt x="0" y="54062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745994"/>
            <a:ext cx="1083796" cy="433518"/>
          </a:xfrm>
          <a:custGeom>
            <a:avLst/>
            <a:gdLst/>
            <a:ahLst/>
            <a:cxnLst/>
            <a:rect r="r" b="b" t="t" l="l"/>
            <a:pathLst>
              <a:path h="433518" w="1083796">
                <a:moveTo>
                  <a:pt x="0" y="0"/>
                </a:moveTo>
                <a:lnTo>
                  <a:pt x="1083796" y="0"/>
                </a:lnTo>
                <a:lnTo>
                  <a:pt x="1083796" y="433518"/>
                </a:lnTo>
                <a:lnTo>
                  <a:pt x="0" y="4335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78587" y="-432010"/>
            <a:ext cx="1599803" cy="1611523"/>
          </a:xfrm>
          <a:custGeom>
            <a:avLst/>
            <a:gdLst/>
            <a:ahLst/>
            <a:cxnLst/>
            <a:rect r="r" b="b" t="t" l="l"/>
            <a:pathLst>
              <a:path h="1611523" w="1599803">
                <a:moveTo>
                  <a:pt x="0" y="0"/>
                </a:moveTo>
                <a:lnTo>
                  <a:pt x="1599803" y="0"/>
                </a:lnTo>
                <a:lnTo>
                  <a:pt x="1599803" y="1611522"/>
                </a:lnTo>
                <a:lnTo>
                  <a:pt x="0" y="16115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21370" y="9466199"/>
            <a:ext cx="1341212" cy="1344573"/>
          </a:xfrm>
          <a:custGeom>
            <a:avLst/>
            <a:gdLst/>
            <a:ahLst/>
            <a:cxnLst/>
            <a:rect r="r" b="b" t="t" l="l"/>
            <a:pathLst>
              <a:path h="1344573" w="1341212">
                <a:moveTo>
                  <a:pt x="0" y="0"/>
                </a:moveTo>
                <a:lnTo>
                  <a:pt x="1341211" y="0"/>
                </a:lnTo>
                <a:lnTo>
                  <a:pt x="1341211" y="1344573"/>
                </a:lnTo>
                <a:lnTo>
                  <a:pt x="0" y="13445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70598" y="1446692"/>
            <a:ext cx="4697596" cy="3924961"/>
            <a:chOff x="0" y="0"/>
            <a:chExt cx="1237227" cy="103373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7227" cy="1033735"/>
            </a:xfrm>
            <a:custGeom>
              <a:avLst/>
              <a:gdLst/>
              <a:ahLst/>
              <a:cxnLst/>
              <a:rect r="r" b="b" t="t" l="l"/>
              <a:pathLst>
                <a:path h="1033735" w="1237227">
                  <a:moveTo>
                    <a:pt x="0" y="0"/>
                  </a:moveTo>
                  <a:lnTo>
                    <a:pt x="1237227" y="0"/>
                  </a:lnTo>
                  <a:lnTo>
                    <a:pt x="1237227" y="1033735"/>
                  </a:lnTo>
                  <a:lnTo>
                    <a:pt x="0" y="103373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237227" cy="1081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550691" y="1446692"/>
            <a:ext cx="5708609" cy="5937386"/>
            <a:chOff x="0" y="0"/>
            <a:chExt cx="1503502" cy="15637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03502" cy="1563756"/>
            </a:xfrm>
            <a:custGeom>
              <a:avLst/>
              <a:gdLst/>
              <a:ahLst/>
              <a:cxnLst/>
              <a:rect r="r" b="b" t="t" l="l"/>
              <a:pathLst>
                <a:path h="1563756" w="1503502">
                  <a:moveTo>
                    <a:pt x="0" y="0"/>
                  </a:moveTo>
                  <a:lnTo>
                    <a:pt x="1503502" y="0"/>
                  </a:lnTo>
                  <a:lnTo>
                    <a:pt x="1503502" y="1563756"/>
                  </a:lnTo>
                  <a:lnTo>
                    <a:pt x="0" y="156375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503502" cy="1611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1446692"/>
            <a:ext cx="5373334" cy="4540781"/>
          </a:xfrm>
          <a:custGeom>
            <a:avLst/>
            <a:gdLst/>
            <a:ahLst/>
            <a:cxnLst/>
            <a:rect r="r" b="b" t="t" l="l"/>
            <a:pathLst>
              <a:path h="4540781" w="5373334">
                <a:moveTo>
                  <a:pt x="0" y="0"/>
                </a:moveTo>
                <a:lnTo>
                  <a:pt x="5373334" y="0"/>
                </a:lnTo>
                <a:lnTo>
                  <a:pt x="5373334" y="4540780"/>
                </a:lnTo>
                <a:lnTo>
                  <a:pt x="0" y="45407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925" t="0" r="-9266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692298" y="1588099"/>
            <a:ext cx="5435456" cy="5654571"/>
          </a:xfrm>
          <a:custGeom>
            <a:avLst/>
            <a:gdLst/>
            <a:ahLst/>
            <a:cxnLst/>
            <a:rect r="r" b="b" t="t" l="l"/>
            <a:pathLst>
              <a:path h="5654571" w="5435456">
                <a:moveTo>
                  <a:pt x="0" y="0"/>
                </a:moveTo>
                <a:lnTo>
                  <a:pt x="5435456" y="0"/>
                </a:lnTo>
                <a:lnTo>
                  <a:pt x="5435456" y="5654571"/>
                </a:lnTo>
                <a:lnTo>
                  <a:pt x="0" y="565457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13404" y="6615049"/>
            <a:ext cx="9318002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batch analysis feature allows users to upload data in CSV format. The model processes the uploaded data and automatically provides the results as a downloadable CSV file. Additionally, a summary and detailed results are displayed on the page for quick insights.</a:t>
            </a:r>
          </a:p>
        </p:txBody>
      </p:sp>
      <p:sp>
        <p:nvSpPr>
          <p:cNvPr name="AutoShape 16" id="16"/>
          <p:cNvSpPr/>
          <p:nvPr/>
        </p:nvSpPr>
        <p:spPr>
          <a:xfrm>
            <a:off x="4601547" y="4035344"/>
            <a:ext cx="1932027" cy="0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arrow" len="sm" w="med"/>
            <a:tailEnd type="arrow" len="sm" w="med"/>
          </a:ln>
        </p:spPr>
      </p:sp>
      <p:sp>
        <p:nvSpPr>
          <p:cNvPr name="TextBox 17" id="17"/>
          <p:cNvSpPr txBox="true"/>
          <p:nvPr/>
        </p:nvSpPr>
        <p:spPr>
          <a:xfrm rot="0">
            <a:off x="6391975" y="3551330"/>
            <a:ext cx="483821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Upload a CSV file for batch processing classify multiple data points at once.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1334" y="242129"/>
            <a:ext cx="10020072" cy="112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6"/>
              </a:lnSpc>
            </a:pPr>
            <a:r>
              <a:rPr lang="en-US" sz="747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Project Walkthrough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745994"/>
            <a:ext cx="1083796" cy="433518"/>
          </a:xfrm>
          <a:custGeom>
            <a:avLst/>
            <a:gdLst/>
            <a:ahLst/>
            <a:cxnLst/>
            <a:rect r="r" b="b" t="t" l="l"/>
            <a:pathLst>
              <a:path h="433518" w="1083796">
                <a:moveTo>
                  <a:pt x="0" y="0"/>
                </a:moveTo>
                <a:lnTo>
                  <a:pt x="1083796" y="0"/>
                </a:lnTo>
                <a:lnTo>
                  <a:pt x="1083796" y="433518"/>
                </a:lnTo>
                <a:lnTo>
                  <a:pt x="0" y="4335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9674" y="8366891"/>
            <a:ext cx="1322822" cy="1326137"/>
          </a:xfrm>
          <a:custGeom>
            <a:avLst/>
            <a:gdLst/>
            <a:ahLst/>
            <a:cxnLst/>
            <a:rect r="r" b="b" t="t" l="l"/>
            <a:pathLst>
              <a:path h="1326137" w="1322822">
                <a:moveTo>
                  <a:pt x="0" y="0"/>
                </a:moveTo>
                <a:lnTo>
                  <a:pt x="1322822" y="0"/>
                </a:lnTo>
                <a:lnTo>
                  <a:pt x="1322822" y="1326137"/>
                </a:lnTo>
                <a:lnTo>
                  <a:pt x="0" y="13261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4595715"/>
            <a:ext cx="1647029" cy="1651157"/>
          </a:xfrm>
          <a:custGeom>
            <a:avLst/>
            <a:gdLst/>
            <a:ahLst/>
            <a:cxnLst/>
            <a:rect r="r" b="b" t="t" l="l"/>
            <a:pathLst>
              <a:path h="1651157" w="1647029">
                <a:moveTo>
                  <a:pt x="0" y="0"/>
                </a:moveTo>
                <a:lnTo>
                  <a:pt x="1647029" y="0"/>
                </a:lnTo>
                <a:lnTo>
                  <a:pt x="1647029" y="1651157"/>
                </a:lnTo>
                <a:lnTo>
                  <a:pt x="0" y="16511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19424" y="1506027"/>
            <a:ext cx="758945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0"/>
              </a:lnSpc>
            </a:pPr>
            <a:r>
              <a:rPr lang="en-US" sz="7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Sustainability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01374" y="3134596"/>
            <a:ext cx="12430618" cy="568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Open-Source &amp; Accessible: Built on NASA datasets and open ML libraries, enabling global use without proprietary restrictions.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Resource Efficiency: Automating classification reduces manual labor and repetitive computations.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Using optimized ML models like XGBoost lowers energy consumption compared to heavier models.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Cloud-based batch processing reduces the need for redundant local computations, saving power.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Encourages responsible use of computational resources, minimizing the carbon footprint of large-scale data analysis.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Scientific Advancement: Supports discovery of potentially habitable planets, contributing to the long-term sustainability of scientific exploration.</a:t>
            </a: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745994"/>
            <a:ext cx="1083796" cy="433518"/>
          </a:xfrm>
          <a:custGeom>
            <a:avLst/>
            <a:gdLst/>
            <a:ahLst/>
            <a:cxnLst/>
            <a:rect r="r" b="b" t="t" l="l"/>
            <a:pathLst>
              <a:path h="433518" w="1083796">
                <a:moveTo>
                  <a:pt x="0" y="0"/>
                </a:moveTo>
                <a:lnTo>
                  <a:pt x="1083796" y="0"/>
                </a:lnTo>
                <a:lnTo>
                  <a:pt x="1083796" y="433518"/>
                </a:lnTo>
                <a:lnTo>
                  <a:pt x="0" y="4335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9674" y="8366891"/>
            <a:ext cx="1322822" cy="1326137"/>
          </a:xfrm>
          <a:custGeom>
            <a:avLst/>
            <a:gdLst/>
            <a:ahLst/>
            <a:cxnLst/>
            <a:rect r="r" b="b" t="t" l="l"/>
            <a:pathLst>
              <a:path h="1326137" w="1322822">
                <a:moveTo>
                  <a:pt x="0" y="0"/>
                </a:moveTo>
                <a:lnTo>
                  <a:pt x="1322822" y="0"/>
                </a:lnTo>
                <a:lnTo>
                  <a:pt x="1322822" y="1326137"/>
                </a:lnTo>
                <a:lnTo>
                  <a:pt x="0" y="13261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4560605"/>
            <a:ext cx="1647029" cy="1651157"/>
          </a:xfrm>
          <a:custGeom>
            <a:avLst/>
            <a:gdLst/>
            <a:ahLst/>
            <a:cxnLst/>
            <a:rect r="r" b="b" t="t" l="l"/>
            <a:pathLst>
              <a:path h="1651157" w="1647029">
                <a:moveTo>
                  <a:pt x="0" y="0"/>
                </a:moveTo>
                <a:lnTo>
                  <a:pt x="1647029" y="0"/>
                </a:lnTo>
                <a:lnTo>
                  <a:pt x="1647029" y="1651158"/>
                </a:lnTo>
                <a:lnTo>
                  <a:pt x="0" y="16511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19424" y="1506027"/>
            <a:ext cx="11077354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0"/>
              </a:lnSpc>
            </a:pPr>
            <a:r>
              <a:rPr lang="en-US" sz="75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Upcoming update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66100" y="3117580"/>
            <a:ext cx="12599666" cy="392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Integration of Deep learning: Implementing deep learning for analyzing complex patterns.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Enhanced interactivity with automation: Enable real time model updates as new observations come in. Develop APIs to connect with other telescopic systems.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Global collaboartion: Crowdsourced data can help retrain and improve the  model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DAG051fazG4</dc:identifier>
  <dcterms:modified xsi:type="dcterms:W3CDTF">2011-08-01T06:04:30Z</dcterms:modified>
  <cp:revision>1</cp:revision>
  <dc:title>Black and Purple Futuristic Outer Space Science Presentation</dc:title>
</cp:coreProperties>
</file>